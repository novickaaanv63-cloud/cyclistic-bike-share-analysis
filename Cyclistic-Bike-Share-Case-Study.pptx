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c062f0e964119" /><Relationship Type="http://schemas.openxmlformats.org/officeDocument/2006/relationships/extended-properties" Target="/docProps/app.xml" Id="Re4116e81d96f4a54" /><Relationship Type="http://schemas.openxmlformats.org/officeDocument/2006/relationships/officeDocument" Target="/ppt/presentation.xml" Id="R9bda3eb64a45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4a8a6e45e4594"/>
  </p:sldMasterIdLst>
  <p:notesMasterIdLst>
    <p:notesMasterId xmlns:r="http://schemas.openxmlformats.org/officeDocument/2006/relationships" r:id="R22f112c31f064a65"/>
  </p:notesMasterIdLst>
  <p:sldIdLst>
    <p:sldId xmlns:r="http://schemas.openxmlformats.org/officeDocument/2006/relationships" id="256" r:id="Rfc8f500080af4720"/>
    <p:sldId xmlns:r="http://schemas.openxmlformats.org/officeDocument/2006/relationships" id="257" r:id="R684002e4472b4edb"/>
    <p:sldId xmlns:r="http://schemas.openxmlformats.org/officeDocument/2006/relationships" id="258" r:id="Rbb0675dfa1c54bbc"/>
    <p:sldId xmlns:r="http://schemas.openxmlformats.org/officeDocument/2006/relationships" id="259" r:id="R6140a3b4d06a497b"/>
    <p:sldId xmlns:r="http://schemas.openxmlformats.org/officeDocument/2006/relationships" id="260" r:id="Rc2f455f1f5404b3f"/>
    <p:sldId xmlns:r="http://schemas.openxmlformats.org/officeDocument/2006/relationships" id="261" r:id="R8059e935f82b47b0"/>
    <p:sldId xmlns:r="http://schemas.openxmlformats.org/officeDocument/2006/relationships" id="262" r:id="R791a742d5c384a84"/>
    <p:sldId xmlns:r="http://schemas.openxmlformats.org/officeDocument/2006/relationships" id="263" r:id="R1b3da76a0c5945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2d346fb079488d" /><Relationship Type="http://schemas.openxmlformats.org/officeDocument/2006/relationships/slideMaster" Target="/ppt/slideMasters/slideMaster1.xml" Id="Rc044a8a6e45e4594" /><Relationship Type="http://schemas.openxmlformats.org/officeDocument/2006/relationships/notesMaster" Target="/ppt/notesMasters/notesMaster1.xml" Id="R22f112c31f064a65" /><Relationship Type="http://schemas.openxmlformats.org/officeDocument/2006/relationships/presProps" Target="/ppt/presProps.xml" Id="Rb30057abb3d84fe0" /><Relationship Type="http://schemas.openxmlformats.org/officeDocument/2006/relationships/tableStyles" Target="/ppt/tableStyles.xml" Id="R52840c028d084637" /><Relationship Type="http://schemas.openxmlformats.org/officeDocument/2006/relationships/slide" Target="/ppt/slides/slide1.xml" Id="Rfc8f500080af4720" /><Relationship Type="http://schemas.openxmlformats.org/officeDocument/2006/relationships/slide" Target="/ppt/slides/slide2.xml" Id="R684002e4472b4edb" /><Relationship Type="http://schemas.openxmlformats.org/officeDocument/2006/relationships/slide" Target="/ppt/slides/slide3.xml" Id="Rbb0675dfa1c54bbc" /><Relationship Type="http://schemas.openxmlformats.org/officeDocument/2006/relationships/slide" Target="/ppt/slides/slide4.xml" Id="R6140a3b4d06a497b" /><Relationship Type="http://schemas.openxmlformats.org/officeDocument/2006/relationships/slide" Target="/ppt/slides/slide5.xml" Id="Rc2f455f1f5404b3f" /><Relationship Type="http://schemas.openxmlformats.org/officeDocument/2006/relationships/slide" Target="/ppt/slides/slide6.xml" Id="R8059e935f82b47b0" /><Relationship Type="http://schemas.openxmlformats.org/officeDocument/2006/relationships/slide" Target="/ppt/slides/slide7.xml" Id="R791a742d5c384a84" /><Relationship Type="http://schemas.openxmlformats.org/officeDocument/2006/relationships/slide" Target="/ppt/slides/slide8.xml" Id="R1b3da76a0c5945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4cc93f418e40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337a6a32494cd6" /><Relationship Type="http://schemas.openxmlformats.org/officeDocument/2006/relationships/notesMaster" Target="/ppt/notesMasters/notesMaster1.xml" Id="Ra77380d464784a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22fd3eb7c142c1" /><Relationship Type="http://schemas.openxmlformats.org/officeDocument/2006/relationships/notesMaster" Target="/ppt/notesMasters/notesMaster1.xml" Id="Rc0908e5ff11e47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356d41ee4b4416" /><Relationship Type="http://schemas.openxmlformats.org/officeDocument/2006/relationships/notesMaster" Target="/ppt/notesMasters/notesMaster1.xml" Id="Re3ffa363dd7847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5380aa36154443" /><Relationship Type="http://schemas.openxmlformats.org/officeDocument/2006/relationships/notesMaster" Target="/ppt/notesMasters/notesMaster1.xml" Id="R533ac13a31d54d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3e5e219a44fce" /><Relationship Type="http://schemas.openxmlformats.org/officeDocument/2006/relationships/notesMaster" Target="/ppt/notesMasters/notesMaster1.xml" Id="R298117ad4ce141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c5c47819e04cc1" /><Relationship Type="http://schemas.openxmlformats.org/officeDocument/2006/relationships/notesMaster" Target="/ppt/notesMasters/notesMaster1.xml" Id="Rfe78d69b23684e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ada27738d4842" /><Relationship Type="http://schemas.openxmlformats.org/officeDocument/2006/relationships/notesMaster" Target="/ppt/notesMasters/notesMaster1.xml" Id="Rc21e4d1888034f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253c7103cd465e" /><Relationship Type="http://schemas.openxmlformats.org/officeDocument/2006/relationships/notesMaster" Target="/ppt/notesMasters/notesMaster1.xml" Id="Rd4a9796abc2f45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repository: https://github.com/novickaaanv63-cloud/Cyclistic-Bike-Share-Analysis</a:t>
            </a:r>
          </a:p>
          <a:p xmlns:a="http://schemas.openxmlformats.org/drawingml/2006/main">
            <a:r>
              <a:t>Dataset: Cyclistic/Divvy historical trip data, August 2025–July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Business task and analysis question documented in the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README and cyclistic_analysis.sql in the GitHub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Counts and cleaning rules documented in the project README and SQL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key findings: members 64.77%, casual 35.23%; average duration 12.26 vs 18.93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Behavioral patterns summarized from the project dashboard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Recommendations documented in the project README; proposed as testable actions, not proven causal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https://github.com/novickaaanv63-cloud/Cyclistic-Bike-Share-Analysis</a:t>
            </a:r>
          </a:p>
          <a:p xmlns:a="http://schemas.openxmlformats.org/drawingml/2006/main">
            <a:r>
              <a:t>Dashboard: https://public.tableau.com/app/profile/yana.novytska/viz/CyclisticBike-ShareAnalysis_17871437811940/CyclisticBike-ShareAnalysisMembersvsCasualRiders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d187fd3534f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e84a1be03a4f4e" /><Relationship Type="http://schemas.openxmlformats.org/officeDocument/2006/relationships/slideLayout" Target="/ppt/slideLayouts/slideLayout1.xml" Id="R4a82fc0e3fe2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2fc0e3fe2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87fe40be84d76" /><Relationship Type="http://schemas.openxmlformats.org/officeDocument/2006/relationships/notesSlide" Target="/ppt/notesSlides/notesSlide1.xml" Id="R34f78b27317d4e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38ecb494e4c6f" /><Relationship Type="http://schemas.openxmlformats.org/officeDocument/2006/relationships/notesSlide" Target="/ppt/notesSlides/notesSlide2.xml" Id="Rb685d44fed5f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d7f59bf494f20" /><Relationship Type="http://schemas.openxmlformats.org/officeDocument/2006/relationships/notesSlide" Target="/ppt/notesSlides/notesSlide3.xml" Id="Rcbe26d520d4e41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5da4a78014f45" /><Relationship Type="http://schemas.openxmlformats.org/officeDocument/2006/relationships/notesSlide" Target="/ppt/notesSlides/notesSlide4.xml" Id="R3b6a3d4bfa3d43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399327c78492d" /><Relationship Type="http://schemas.openxmlformats.org/officeDocument/2006/relationships/chart" Target="/ppt/slides/charts/chart1.xml" Id="Rd75a0fe577444d58" /><Relationship Type="http://schemas.openxmlformats.org/officeDocument/2006/relationships/chart" Target="/ppt/slides/charts/chart2.xml" Id="R0feee1ca00ea4a93" /><Relationship Type="http://schemas.openxmlformats.org/officeDocument/2006/relationships/notesSlide" Target="/ppt/notesSlides/notesSlide5.xml" Id="R0f394f57cb0a41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317a4ba6b4fa5" /><Relationship Type="http://schemas.openxmlformats.org/officeDocument/2006/relationships/notesSlide" Target="/ppt/notesSlides/notesSlide6.xml" Id="R18fd036fc7144f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5655bf7d34194" /><Relationship Type="http://schemas.openxmlformats.org/officeDocument/2006/relationships/notesSlide" Target="/ppt/notesSlides/notesSlide7.xml" Id="Re67c474fa5df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5a3af897741a1" /><Relationship Type="http://schemas.openxmlformats.org/officeDocument/2006/relationships/notesSlide" Target="/ppt/notesSlides/notesSlide8.xml" Id="R35061fddf570453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Share</c:v>
          </c:tx>
          <c:spPr>
            <a:solidFill xmlns:a="http://schemas.openxmlformats.org/drawingml/2006/main">
              <a:srgbClr val="3478F6"/>
            </a:solidFill>
          </c:spPr>
          <c:cat>
            <c:strLit>
              <c:ptCount val="2"/>
              <c:pt idx="0">
                <c:v>Annual members</c:v>
              </c:pt>
              <c:pt idx="1">
                <c:v>Casual riders</c:v>
              </c:pt>
            </c:strLit>
          </c:cat>
          <c:val>
            <c:numLit>
              <c:formatCode>General</c:formatCode>
              <c:ptCount val="2"/>
              <c:pt idx="0">
                <c:v>64.77</c:v>
              </c:pt>
              <c:pt idx="1">
                <c:v>35.23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F28E2B"/>
            </a:solidFill>
          </c:spPr>
          <c:cat>
            <c:strLit>
              <c:ptCount val="2"/>
              <c:pt idx="0">
                <c:v>Members</c:v>
              </c:pt>
              <c:pt idx="1">
                <c:v>Casual</c:v>
              </c:pt>
            </c:strLit>
          </c:cat>
          <c:val>
            <c:numLit>
              <c:formatCode>General</c:formatCode>
              <c:ptCount val="2"/>
              <c:pt idx="0">
                <c:v>12.26</c:v>
              </c:pt>
              <c:pt idx="1">
                <c:v>18.93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7E5B0-5086-4DD0-9800-90E0128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FBF78-8E7C-4F3D-B00B-03FAE398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</a:defRPr>
            </a:pPr>
            <a:r>
              <a:rPr sz="1125" b="1">
                <a:solidFill>
                  <a:srgbClr val="5B6472"/>
                </a:solidFill>
              </a:rPr>
              <a:t>CYCLISTIC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84C7C-4171-4ACF-8524-2252BAE9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Turning casual rides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into annual memberships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575ED-4A35-46D2-A77A-8FA788B3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</a:defRPr>
            </a:pPr>
            <a:r>
              <a:rPr sz="1875" b="0">
                <a:solidFill>
                  <a:srgbClr val="5B6472"/>
                </a:solidFill>
              </a:rPr>
              <a:t>Bike-share behavior analysis using BigQuery SQL and Tableau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FD4B9-33F8-4E08-A448-05AFA747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95400"/>
            <a:ext cx="28003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55300-0E7A-4584-B20A-F3527593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3478F6"/>
                </a:solidFill>
              </a:defRPr>
            </a:pPr>
            <a:r>
              <a:rPr sz="3900" b="1">
                <a:solidFill>
                  <a:srgbClr val="3478F6"/>
                </a:solidFill>
              </a:rPr>
              <a:t>5.87M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BE48D-786D-4528-8016-261790D6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76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cleaned rides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12FC9-3867-49F1-ACE7-7AEF1400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12 months of trip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C00F0-F5D1-4C07-9EC5-892CADC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Yana Novytska  •  Portfolio Project</a:t>
            </a:r>
          </a:p>
        </p:txBody>
      </p:sp>
    </p:spTree>
    <p:extLst>
      <p:ext uri="{BB962C8B-B14F-4D97-AF65-F5344CB8AC3E}">
        <p14:creationId xmlns:p14="http://schemas.microsoft.com/office/powerpoint/2010/main" val="2001573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E299C-3B93-43A7-92A7-15C1D369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01  BUSINESS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A4386-CD77-485C-BE1B-039A1E73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business question is conversion—not just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3E7D5-0742-4239-A4B4-B11EA15C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88392-5732-4D35-9816-EE91F2BD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CEE6B-C7B3-44EE-A1AC-5377DE6C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How do annual members and casual riders use Cyclistic bikes differently?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9FD38-6143-44BB-B14F-EC4D2178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953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EA674-24C6-48A6-BF96-2F56273F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Decision to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6B719-98D0-43BA-8984-97B412F4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Identify practical marketing actions that can encourage casual riders to become annual members.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0CC85-2AB7-410D-BCF6-0EE8B507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4629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FFF0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DBBC9-06E8-4395-9297-39E17B7D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Analytical lens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436D1-8407-4DFE-A7F7-464AE0F9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Compare ride volume, duration, weekday, month, hour, bike type, and start-station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8412D-1BAD-48BD-930A-E0B107DA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13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8E2B"/>
                </a:solidFill>
              </a:defRPr>
            </a:pPr>
            <a:r>
              <a:rPr sz="1875" b="1">
                <a:solidFill>
                  <a:srgbClr val="F28E2B"/>
                </a:solidFill>
              </a:rPr>
              <a:t>The goal: translate behavior patterns into testable conversion tactics.</a:t>
            </a:r>
          </a:p>
        </p:txBody>
      </p:sp>
    </p:spTree>
    <p:extLst>
      <p:ext uri="{BB962C8B-B14F-4D97-AF65-F5344CB8AC3E}">
        <p14:creationId xmlns:p14="http://schemas.microsoft.com/office/powerpoint/2010/main" val="1777001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13F9B-532D-444E-9A7C-28D28381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02  DATA AND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0D15E-F293-4179-9C44-D35B23F8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Twelve monthly files became one analysis-ready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C53F-03F4-4544-8568-C9DC2782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F7871-D93D-434F-8CB3-3829A6F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4989D-037A-449A-AD1E-141FBEC6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</a:defRPr>
            </a:pPr>
            <a:r>
              <a:rPr sz="1350" b="1">
                <a:solidFill>
                  <a:srgbClr val="F28E2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73A82-5DAF-4A7F-A435-3A8C5595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190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8A513-3C47-4C4E-B8DE-5B4AEC58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Collect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0B0F6-AE07-4410-84ED-8EECF0CF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77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12 monthly CSV files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Aug 2025–Jul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50A0B-555D-48E3-B685-9C1AAE2F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</a:defRPr>
            </a:pPr>
            <a:r>
              <a:rPr sz="1350" b="1">
                <a:solidFill>
                  <a:srgbClr val="F28E2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C7E80-A0D3-4F24-9CCA-3FB20165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2190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914C7-40C5-4C26-90C0-2085922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262BF-01FD-48F7-9030-BFB1BE15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177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Schema, row counts,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missing values, duplicates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3D803-09BC-486C-9FD2-55D4A505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</a:defRPr>
            </a:pPr>
            <a:r>
              <a:rPr sz="1350" b="1">
                <a:solidFill>
                  <a:srgbClr val="F28E2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46FD4-197B-4FDC-9DD2-21924BB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47925"/>
            <a:ext cx="2190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2ECE1-DD53-4324-8EA8-98C18D32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Clean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7D365-28DC-44D2-9758-E4E7004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77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Remove duplicate IDs and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invalid ride durations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20677-6DD0-4904-B80E-8FF273A7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</a:defRPr>
            </a:pPr>
            <a:r>
              <a:rPr sz="1350" b="1">
                <a:solidFill>
                  <a:srgbClr val="F28E2B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B6A4D-EE38-4404-B89D-E5A33F67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47925"/>
            <a:ext cx="2190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B52E0-C9D0-436D-AF68-4E7F149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Analyze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88391-719C-425D-917F-721C6F14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177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SQL aggregations and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Tableau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9481F-1C42-4BBC-989F-8B3A931E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2F3D9-3E22-416B-9004-A98914BF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816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Google BigQuery / SQL    •    Tableau Public    •    GitHub</a:t>
            </a:r>
          </a:p>
        </p:txBody>
      </p:sp>
    </p:spTree>
    <p:extLst>
      <p:ext uri="{BB962C8B-B14F-4D97-AF65-F5344CB8AC3E}">
        <p14:creationId xmlns:p14="http://schemas.microsoft.com/office/powerpoint/2010/main" val="1414216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F1A01-8E46-4BDD-A6FE-7E3A81A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03  DATA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EF35E-24F1-4F89-814A-94AE0B77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Data quality checks removed invalid records before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EAB86-0CBF-4F91-BE98-E01311AA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A2E57-8C35-404F-B5D7-32D44DF7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F65EA-89DE-4538-9D22-152684C2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6,037,933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1DD3-E159-404F-8798-F213540E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initial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C727D-44AA-4C2C-AD3A-B20157B4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28E2B"/>
                </a:solidFill>
              </a:defRPr>
            </a:pPr>
            <a:r>
              <a:rPr sz="3000" b="1">
                <a:solidFill>
                  <a:srgbClr val="F28E2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65864-F3DE-4B5C-8130-2DD2431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478F6"/>
                </a:solidFill>
              </a:defRPr>
            </a:pPr>
            <a:r>
              <a:rPr sz="3750" b="1">
                <a:solidFill>
                  <a:srgbClr val="3478F6"/>
                </a:solidFill>
              </a:rPr>
              <a:t>5,871,668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24071-5492-4F90-B6C6-9D4C6DB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90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final cleaned rides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9EA98-F22E-4198-B766-B07BFF00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4A15F-F6CA-4758-B089-4EF84292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8E2B"/>
                </a:solidFill>
              </a:defRPr>
            </a:pPr>
            <a:r>
              <a:rPr sz="2400" b="1">
                <a:solidFill>
                  <a:srgbClr val="F28E2B"/>
                </a:solidFill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C4B3C-D8C6-457A-B455-CFBC138F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duplicate ride IDs identified and removed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B32C4-58C5-4D81-BFC3-1D136B1C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90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78F6"/>
                </a:solidFill>
              </a:defRPr>
            </a:pPr>
            <a:r>
              <a:rPr sz="2400" b="1">
                <a:solidFill>
                  <a:srgbClr val="3478F6"/>
                </a:solidFill>
              </a:rPr>
              <a:t>&lt; 1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81BAB-B74A-4311-B150-FE75B043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381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rides excluded as too short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08C58-9667-40CF-87D7-353ED50F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478F6"/>
                </a:solidFill>
              </a:defRPr>
            </a:pPr>
            <a:r>
              <a:rPr sz="2400" b="1">
                <a:solidFill>
                  <a:srgbClr val="3478F6"/>
                </a:solidFill>
              </a:rPr>
              <a:t>≥ 24 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E8769-5C92-4975-B3D6-048AE3A6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81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rides excluded as implausibly long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7A8E7-1B14-4432-AA2B-992E51B9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866F"/>
                </a:solidFill>
              </a:defRPr>
            </a:pPr>
            <a:r>
              <a:rPr sz="1800" b="1">
                <a:solidFill>
                  <a:srgbClr val="21866F"/>
                </a:solidFill>
              </a:rPr>
              <a:t>Result: a validated dataset suitable for reliable behavioral comparison.</a:t>
            </a:r>
          </a:p>
        </p:txBody>
      </p:sp>
    </p:spTree>
    <p:extLst>
      <p:ext uri="{BB962C8B-B14F-4D97-AF65-F5344CB8AC3E}">
        <p14:creationId xmlns:p14="http://schemas.microsoft.com/office/powerpoint/2010/main" val="37044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E6FA2-C711-497C-B115-0DBEB131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04  CORE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4113D-9F53-48AB-868C-8DE3FB2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Members drive more rides; casual riders stay longer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CC6F5-3A77-4F93-B7BF-7F3CB727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808DB-2B50-4086-A6E5-D2268D6F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3FF83-34C8-45E6-AF5E-30037AC1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Share of all rides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4762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5a0fe577444d5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2A3A2-D508-44FD-9A82-37E83B6F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Average ride duration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0" y="2190750"/>
          <a:ext xmlns:a="http://schemas.openxmlformats.org/drawingml/2006/main" cx="4762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eee1ca00ea4a9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7201F-1339-4200-8ACE-EB24B9D6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78F6"/>
                </a:solidFill>
              </a:defRPr>
            </a:pPr>
            <a:r>
              <a:rPr sz="1650" b="1">
                <a:solidFill>
                  <a:srgbClr val="3478F6"/>
                </a:solidFill>
              </a:rPr>
              <a:t>Members account for 64.77% of rides.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99D90-1768-4FF7-8012-B0D5C0AF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E2B"/>
                </a:solidFill>
              </a:defRPr>
            </a:pPr>
            <a:r>
              <a:rPr sz="1650" b="1">
                <a:solidFill>
                  <a:srgbClr val="F28E2B"/>
                </a:solidFill>
              </a:rPr>
              <a:t>Casual trips are 54% longer on average.</a:t>
            </a:r>
          </a:p>
        </p:txBody>
      </p:sp>
    </p:spTree>
    <p:extLst>
      <p:ext uri="{BB962C8B-B14F-4D97-AF65-F5344CB8AC3E}">
        <p14:creationId xmlns:p14="http://schemas.microsoft.com/office/powerpoint/2010/main" val="259689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DB972-3BB4-411E-A5A2-3324F45C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05  BEHAVIORAL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E0B67-F072-419C-A205-7CD88352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two groups use Cyclistic for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FFB74-BFA6-4153-9EC5-F3F70C3C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E4EED-60B5-4658-9BB7-D7E5FABA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E442A-31A3-4E55-9E2E-FFCFC503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78F6"/>
                </a:solidFill>
              </a:defRPr>
            </a:pPr>
            <a:r>
              <a:rPr sz="1200" b="1">
                <a:solidFill>
                  <a:srgbClr val="3478F6"/>
                </a:solidFill>
              </a:rPr>
              <a:t>ANNUAL 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A64F6-AAB8-4CD4-9128-7B8C2D79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E2B"/>
                </a:solidFill>
              </a:defRPr>
            </a:pPr>
            <a:r>
              <a:rPr sz="1200" b="1">
                <a:solidFill>
                  <a:srgbClr val="F28E2B"/>
                </a:solidFill>
              </a:rPr>
              <a:t>CASUAL RIDERS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8AA26-77B2-45B7-9E45-80E3337D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Routine transportation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7D28D-C7AC-4F1D-B5F9-21B57473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Leisure and recreation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3BE98-1C64-460C-9529-A566607D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8F6"/>
                </a:solidFill>
              </a:defRPr>
            </a:pPr>
            <a:r>
              <a:rPr sz="1800" b="1">
                <a:solidFill>
                  <a:srgbClr val="3478F6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B699A-545B-4387-A878-F82A3031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67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Stronger weekday 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4C507-EA68-47FE-89BA-C418E372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8F6"/>
                </a:solidFill>
              </a:defRPr>
            </a:pPr>
            <a:r>
              <a:rPr sz="1800" b="1">
                <a:solidFill>
                  <a:srgbClr val="3478F6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D6A83-AFE3-4235-9127-D8E8E394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Clear commuting-hour peaks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4A759-F271-4197-8EAD-58BF5B1F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8F6"/>
                </a:solidFill>
              </a:defRPr>
            </a:pPr>
            <a:r>
              <a:rPr sz="1800" b="1">
                <a:solidFill>
                  <a:srgbClr val="3478F6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56045-2D96-4A2F-9A91-C21ACEBF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Shorter, more frequent rides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6D4C7-CAB7-4DEB-AD0C-418D209B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</a:defRPr>
            </a:pPr>
            <a:r>
              <a:rPr sz="1800" b="1">
                <a:solidFill>
                  <a:srgbClr val="F28E2B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A817A-61DC-471D-8FD7-3E312ED7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Stronger weekend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8EB70-C487-425C-B3E7-3EB2ACB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</a:defRPr>
            </a:pPr>
            <a:r>
              <a:rPr sz="1800" b="1">
                <a:solidFill>
                  <a:srgbClr val="F28E2B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BD0C1-2902-460A-BBE5-C0D92A48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52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More rides later in the day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40C4B-413F-4F62-BD0A-55D1A8E9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</a:defRPr>
            </a:pPr>
            <a:r>
              <a:rPr sz="1800" b="1">
                <a:solidFill>
                  <a:srgbClr val="F28E2B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E26ED-2534-4999-BCA2-1FAAEDE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38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Longer average trips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AB308-0A6C-49D4-AF1A-03EFF51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D79A6-8BB7-417D-954D-ACADA646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866F"/>
                </a:solidFill>
              </a:defRPr>
            </a:pPr>
            <a:r>
              <a:rPr sz="1800" b="1">
                <a:solidFill>
                  <a:srgbClr val="21866F"/>
                </a:solidFill>
              </a:rPr>
              <a:t>Implication: conversion messages should match the moment and purpose of the casual ride.</a:t>
            </a:r>
          </a:p>
        </p:txBody>
      </p:sp>
    </p:spTree>
    <p:extLst>
      <p:ext uri="{BB962C8B-B14F-4D97-AF65-F5344CB8AC3E}">
        <p14:creationId xmlns:p14="http://schemas.microsoft.com/office/powerpoint/2010/main" val="1376631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75ADA-1BDA-4D8A-8EF0-D7F83C3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06 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17B4F-1B1A-4358-A7D2-E482514A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Five conversion actions follow directly from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7A07C-A142-4C00-9155-E9131B9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43167-3494-4959-BE81-A6EAC23C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FC893-67AC-401A-BE3F-AC9EE3F6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8E2B"/>
                </a:solidFill>
              </a:defRPr>
            </a:pPr>
            <a:r>
              <a:rPr sz="1800" b="1">
                <a:solidFill>
                  <a:srgbClr val="F28E2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41180-DCEC-461C-8949-72DCA542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Seasonal membership campaign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C9787-35B9-4888-B340-9D70FC5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Promote before and during spring–summer demand; test a trial or limited-time discount.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25F3C-5269-4654-A4FB-C3EC9EF6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2A7C8-527F-49C1-BD09-A0CBADD9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478F6"/>
                </a:solidFill>
              </a:defRPr>
            </a:pPr>
            <a:r>
              <a:rPr sz="1800" b="1">
                <a:solidFill>
                  <a:srgbClr val="3478F6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6C29A-D30C-4512-B099-95BB5CF3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14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Weekend and leisure targeting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5778E-891D-43AE-B627-79B2EF03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Reach casual riders when they are most active and connect leisure use with membership convenience.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7EE24-262F-497D-84A6-6F99783F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718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CBAE5-EBD5-4F74-B16D-A416E95F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8E2B"/>
                </a:solidFill>
              </a:defRPr>
            </a:pPr>
            <a:r>
              <a:rPr sz="1800" b="1">
                <a:solidFill>
                  <a:srgbClr val="F28E2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1B727-DC78-409C-852A-5E1E4401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Show the financial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6878E-6CB6-4F62-ABC9-84CF8CBC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Compare repeated single-ride or day-pass spending with the annual membership price.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B4D7E-E02F-42D2-9E8B-555E852D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6CC8D-8C60-436F-9C3A-87F21ABF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478F6"/>
                </a:solidFill>
              </a:defRPr>
            </a:pPr>
            <a:r>
              <a:rPr sz="1800" b="1">
                <a:solidFill>
                  <a:srgbClr val="3478F6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928DE-4EE6-4C42-B97E-47AC9991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Activate high-casual stations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7D7A5-AE49-42D6-8592-44DF0D5B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Use QR codes, local ads, and membership offers at stations favored by casual riders.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E75E0-C7E8-4450-A167-7293DB38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482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04422-3D6C-4BA2-98F5-D8F74E1F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8E2B"/>
                </a:solidFill>
              </a:defRPr>
            </a:pPr>
            <a:r>
              <a:rPr sz="1800" b="1">
                <a:solidFill>
                  <a:srgbClr val="F28E2B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33384-F4E2-4B74-9F1D-34AB01BA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Test and measure conversion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3F43DF-7F93-472A-AB38-07B5E9C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A/B test messages and offers; track conversion, CTR, cost per conversion, and repeat rides.</a:t>
            </a:r>
          </a:p>
        </p:txBody>
      </p:sp>
    </p:spTree>
    <p:extLst>
      <p:ext uri="{BB962C8B-B14F-4D97-AF65-F5344CB8AC3E}">
        <p14:creationId xmlns:p14="http://schemas.microsoft.com/office/powerpoint/2010/main" val="259247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BFC92-E30E-485D-9562-06969889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07 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C82C4-04AB-4201-8D06-3FEF9A61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Make membership relevant at the right moment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C5211-C7F8-4991-B5EA-BD60CE18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F15A0-8D09-47B8-A860-7F74377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DC05A-D613-4FC5-8666-4D47089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Casual riders already show strong engagement—especially on weekends, later hours, and longer trips.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5264D-417D-4B54-8F3E-ED4158B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23C85-0524-46FF-9E9E-207AA2C0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E2B"/>
                </a:solidFill>
              </a:defRPr>
            </a:pPr>
            <a:r>
              <a:rPr sz="1650" b="1">
                <a:solidFill>
                  <a:srgbClr val="F28E2B"/>
                </a:solidFill>
              </a:rPr>
              <a:t>Recommended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2E07E-025D-45C8-BF7B-62FA9CF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Run a targeted pilot campaign at high-casual stations during warm-season weekends, then measure membership conversion against a control group.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0F918-2710-42EE-A159-CB352F53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</a:defRPr>
            </a:pPr>
            <a:r>
              <a:rPr sz="1650" b="1">
                <a:solidFill>
                  <a:srgbClr val="5B6472"/>
                </a:solidFill>
              </a:rPr>
              <a:t>Data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0E0B5-F579-4B7F-BD44-6C93F983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Trip data does not include customer demographics, pricing history, or individual purchase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C7F54-6FF1-4D1D-9FBD-2DC262DD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</a:defRPr>
            </a:pPr>
            <a:r>
              <a:rPr sz="1275" b="1">
                <a:solidFill>
                  <a:srgbClr val="5B6472"/>
                </a:solidFill>
              </a:rPr>
              <a:t>Portfolio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F6B39-CCF6-4A6F-99B9-CABE76FF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78F6"/>
                </a:solidFill>
              </a:defRPr>
            </a:pPr>
            <a:r>
              <a:rPr sz="1275" b="0">
                <a:solidFill>
                  <a:srgbClr val="3478F6"/>
                </a:solidFill>
              </a:rPr>
              <a:t>GitHub repository  •  Interactive Tableau dashboard linked in the repository</a:t>
            </a:r>
          </a:p>
        </p:txBody>
      </p:sp>
    </p:spTree>
    <p:extLst>
      <p:ext uri="{BB962C8B-B14F-4D97-AF65-F5344CB8AC3E}">
        <p14:creationId xmlns:p14="http://schemas.microsoft.com/office/powerpoint/2010/main" val="1672940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2026-08-20T10:06:57.6000000Z</dcterms:created>
  <dcterms:modified xsi:type="dcterms:W3CDTF">2026-08-20T10:06:57.6000000Z</dcterms:modified>
</coreProperties>
</file>